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  <p:sldMasterId id="214748370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Roboto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Assistant"/>
      <p:regular r:id="rId26"/>
      <p:bold r:id="rId27"/>
    </p:embeddedFont>
    <p:embeddedFont>
      <p:font typeface="Robot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Assistan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Light-regular.fntdata"/><Relationship Id="rId27" Type="http://schemas.openxmlformats.org/officeDocument/2006/relationships/font" Target="fonts/Assistan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Ligh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Light-boldItalic.fntdata"/><Relationship Id="rId30" Type="http://schemas.openxmlformats.org/officeDocument/2006/relationships/font" Target="fonts/RobotoLigh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RobotoMedium-bold.fntdata"/><Relationship Id="rId18" Type="http://schemas.openxmlformats.org/officeDocument/2006/relationships/font" Target="fonts/Robot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d4160830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1d4160830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d3c4a5c80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1d3c4a5c80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cec5a7350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4cec5a735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d3c4a5c80_0_1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1d3c4a5c80_0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4cec5a7350_1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4cec5a7350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4cec5a7350_1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4cec5a7350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4cec5a7350_1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4cec5a735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4cec5a7350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4cec5a7350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d3c4a5c80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1d3c4a5c80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1d3c4a5c80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1d3c4a5c80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For future research, we plan to use machine learning models to classify pro-Trump and pro-Biden statements more accurately. This could provide even deeper insights into polarization and voter sentiment. Thank you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63" name="Google Shape;63;p14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4" name="Google Shape;64;p14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14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" name="Google Shape;71;p14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b="1" lang="en" sz="1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sz="1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Google Shape;79;p15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b="1" lang="en" sz="1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sz="1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1" name="Google Shape;81;p15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83" name="Google Shape;83;p15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4" name="Google Shape;84;p15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6" name="Google Shape;126;p22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3" name="Google Shape;133;p23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6" name="Google Shape;146;p27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47" name="Google Shape;147;p27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27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50" name="Google Shape;150;p27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156" name="Google Shape;156;p28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7" name="Google Shape;157;p28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hasCustomPrompt="1"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1"/>
          <p:cNvSpPr txBox="1"/>
          <p:nvPr>
            <p:ph hasCustomPrompt="1"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31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hasCustomPrompt="1"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3" name="Google Shape;173;p31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540000" y="4726558"/>
            <a:ext cx="241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0" lvl="1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indent="0" lvl="2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indent="0" lvl="3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indent="0" lvl="4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indent="0" lvl="5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indent="0" lvl="6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indent="0" lvl="7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indent="0" lvl="8" mar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5050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	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Salesfive Consulting GmbH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540000" y="754732"/>
            <a:ext cx="483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33"/>
          <p:cNvSpPr txBox="1"/>
          <p:nvPr>
            <p:ph idx="2" type="body"/>
          </p:nvPr>
        </p:nvSpPr>
        <p:spPr>
          <a:xfrm>
            <a:off x="540000" y="573528"/>
            <a:ext cx="48318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C8C8C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C8C8C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0" name="Google Shape;18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21615" y="4768979"/>
            <a:ext cx="628384" cy="18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3"/>
          <p:cNvSpPr txBox="1"/>
          <p:nvPr>
            <p:ph idx="3" type="body"/>
          </p:nvPr>
        </p:nvSpPr>
        <p:spPr>
          <a:xfrm>
            <a:off x="540000" y="1491854"/>
            <a:ext cx="67500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050505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/>
          <p:nvPr/>
        </p:nvSpPr>
        <p:spPr>
          <a:xfrm>
            <a:off x="0" y="-3050"/>
            <a:ext cx="9144000" cy="5143500"/>
          </a:xfrm>
          <a:prstGeom prst="rect">
            <a:avLst/>
          </a:prstGeom>
          <a:solidFill>
            <a:srgbClr val="58ADC5"/>
          </a:solidFill>
          <a:ln cap="flat" cmpd="sng" w="38100">
            <a:solidFill>
              <a:srgbClr val="58AD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34"/>
          <p:cNvGrpSpPr/>
          <p:nvPr/>
        </p:nvGrpSpPr>
        <p:grpSpPr>
          <a:xfrm>
            <a:off x="8638982" y="104318"/>
            <a:ext cx="401181" cy="515668"/>
            <a:chOff x="-1" y="-1"/>
            <a:chExt cx="1210200" cy="1615500"/>
          </a:xfrm>
        </p:grpSpPr>
        <p:sp>
          <p:nvSpPr>
            <p:cNvPr id="185" name="Google Shape;185;p34"/>
            <p:cNvSpPr/>
            <p:nvPr/>
          </p:nvSpPr>
          <p:spPr>
            <a:xfrm>
              <a:off x="-1" y="-1"/>
              <a:ext cx="1210200" cy="1615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rotWithShape="0" dir="5400000" dist="25400">
                <a:srgbClr val="000000">
                  <a:alpha val="49410"/>
                </a:srgbClr>
              </a:outerShdw>
            </a:effectLst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Grafik 7" id="186" name="Google Shape;186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9038" y="85734"/>
              <a:ext cx="1012047" cy="14440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125" lIns="79125" spcFirstLastPara="1" rIns="79125" wrap="square" tIns="791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600"/>
            </a:lvl9pPr>
          </a:lstStyle>
          <a:p/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norm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»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35"/>
          <p:cNvSpPr txBox="1"/>
          <p:nvPr>
            <p:ph idx="10" type="dt"/>
          </p:nvPr>
        </p:nvSpPr>
        <p:spPr>
          <a:xfrm>
            <a:off x="457201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9125" lIns="79125" spcFirstLastPara="1" rIns="79125" wrap="square" tIns="791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35"/>
          <p:cNvSpPr txBox="1"/>
          <p:nvPr>
            <p:ph idx="12" type="sldNum"/>
          </p:nvPr>
        </p:nvSpPr>
        <p:spPr>
          <a:xfrm>
            <a:off x="6553201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730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2" type="sldNum"/>
          </p:nvPr>
        </p:nvSpPr>
        <p:spPr>
          <a:xfrm>
            <a:off x="8322127" y="4803219"/>
            <a:ext cx="1932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lnSpcReduction="10000"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>
              <a:solidFill>
                <a:schemeClr val="dk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 showMasterSp="0">
  <p:cSld name="TITLE_AND_BODY_9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8588391" y="4721996"/>
            <a:ext cx="1809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rmAutofit lnSpcReduction="1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39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9" name="Google Shape;209;p3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0" name="Google Shape;210;p39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211" name="Google Shape;211;p39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2" name="Google Shape;212;p39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39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9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9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9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9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9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9" name="Google Shape;219;p39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0" name="Google Shape;220;p39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7" name="Google Shape;227;p4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" name="Google Shape;230;p41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1" name="Google Shape;231;p4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42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2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8" name="Google Shape;238;p4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i="0" sz="10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9" name="Google Shape;239;p42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240" name="Google Shape;240;p4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p42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242" name="Google Shape;242;p42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3" name="Google Shape;243;p42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4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4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4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4" name="Google Shape;254;p4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5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5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" name="Google Shape;261;p45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2" name="Google Shape;262;p4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6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6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6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47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47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5" name="Google Shape;275;p4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48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9" name="Google Shape;279;p4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48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1" name="Google Shape;281;p48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" name="Google Shape;284;p4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7" name="Google Shape;287;p50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8" name="Google Shape;288;p5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1" name="Google Shape;291;p5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4" name="Google Shape;294;p52"/>
          <p:cNvGrpSpPr/>
          <p:nvPr/>
        </p:nvGrpSpPr>
        <p:grpSpPr>
          <a:xfrm rot="2700000">
            <a:off x="585684" y="481416"/>
            <a:ext cx="694882" cy="564848"/>
            <a:chOff x="919500" y="1916075"/>
            <a:chExt cx="1067700" cy="867900"/>
          </a:xfrm>
        </p:grpSpPr>
        <p:sp>
          <p:nvSpPr>
            <p:cNvPr id="295" name="Google Shape;295;p52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2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52"/>
          <p:cNvGrpSpPr/>
          <p:nvPr/>
        </p:nvGrpSpPr>
        <p:grpSpPr>
          <a:xfrm rot="8100000">
            <a:off x="7746889" y="3437647"/>
            <a:ext cx="912919" cy="742084"/>
            <a:chOff x="521400" y="3135325"/>
            <a:chExt cx="1067700" cy="867900"/>
          </a:xfrm>
        </p:grpSpPr>
        <p:sp>
          <p:nvSpPr>
            <p:cNvPr id="298" name="Google Shape;298;p52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52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52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3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5" name="Google Shape;305;p53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4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309" name="Google Shape;309;p5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55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3" name="Google Shape;313;p5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6" name="Google Shape;316;p56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7" name="Google Shape;317;p5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56"/>
          <p:cNvSpPr txBox="1"/>
          <p:nvPr>
            <p:ph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19" name="Google Shape;319;p56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0" name="Google Shape;320;p56"/>
          <p:cNvSpPr txBox="1"/>
          <p:nvPr>
            <p:ph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21" name="Google Shape;321;p56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4.xml"/><Relationship Id="rId21" Type="http://schemas.openxmlformats.org/officeDocument/2006/relationships/theme" Target="../theme/theme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7157996" y="4762665"/>
            <a:ext cx="1308600" cy="27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56" name="Google Shape;56;p1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1">
              <a:alphaModFix/>
            </a:blip>
            <a:srcRect b="0" l="79" r="79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i="0" sz="2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38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b="0" i="0" sz="18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202" name="Google Shape;202;p3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3" name="Google Shape;203;p38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204" name="Google Shape;204;p38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" name="Google Shape;205;p38"/>
            <p:cNvPicPr preferRelativeResize="0"/>
            <p:nvPr/>
          </p:nvPicPr>
          <p:blipFill rotWithShape="1">
            <a:blip r:embed="rId1">
              <a:alphaModFix/>
            </a:blip>
            <a:srcRect b="0" l="79" r="79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58"/>
          <p:cNvGrpSpPr/>
          <p:nvPr/>
        </p:nvGrpSpPr>
        <p:grpSpPr>
          <a:xfrm>
            <a:off x="0" y="-7000"/>
            <a:ext cx="9197375" cy="5161900"/>
            <a:chOff x="0" y="-7000"/>
            <a:chExt cx="9197375" cy="5161900"/>
          </a:xfrm>
        </p:grpSpPr>
        <p:sp>
          <p:nvSpPr>
            <p:cNvPr id="329" name="Google Shape;329;p58"/>
            <p:cNvSpPr/>
            <p:nvPr/>
          </p:nvSpPr>
          <p:spPr>
            <a:xfrm>
              <a:off x="7000" y="-7000"/>
              <a:ext cx="9144000" cy="255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8"/>
            <p:cNvSpPr/>
            <p:nvPr/>
          </p:nvSpPr>
          <p:spPr>
            <a:xfrm>
              <a:off x="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8"/>
            <p:cNvSpPr/>
            <p:nvPr/>
          </p:nvSpPr>
          <p:spPr>
            <a:xfrm>
              <a:off x="7000" y="4798125"/>
              <a:ext cx="9144000" cy="3567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8"/>
            <p:cNvSpPr/>
            <p:nvPr/>
          </p:nvSpPr>
          <p:spPr>
            <a:xfrm>
              <a:off x="6400750" y="2400375"/>
              <a:ext cx="2743242" cy="2743120"/>
            </a:xfrm>
            <a:custGeom>
              <a:rect b="b" l="l" r="r" t="t"/>
              <a:pathLst>
                <a:path extrusionOk="0" h="73145" w="73158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58ADC5"/>
            </a:solidFill>
            <a:ln>
              <a:noFill/>
            </a:ln>
          </p:spPr>
        </p:sp>
        <p:sp>
          <p:nvSpPr>
            <p:cNvPr id="333" name="Google Shape;333;p58"/>
            <p:cNvSpPr txBox="1"/>
            <p:nvPr/>
          </p:nvSpPr>
          <p:spPr>
            <a:xfrm rot="-2700000">
              <a:off x="6647467" y="3651017"/>
              <a:ext cx="2757716" cy="554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65"/>
                <a:buNone/>
              </a:pPr>
              <a:r>
                <a:rPr b="1" lang="en" sz="100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We use tech to connect human potential and opportunity with dignity &amp; humility   </a:t>
              </a:r>
              <a:endParaRPr b="1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34" name="Google Shape;334;p58"/>
            <p:cNvSpPr/>
            <p:nvPr/>
          </p:nvSpPr>
          <p:spPr>
            <a:xfrm>
              <a:off x="8414775" y="4244650"/>
              <a:ext cx="418647" cy="418572"/>
            </a:xfrm>
            <a:custGeom>
              <a:rect b="b" l="l" r="r" t="t"/>
              <a:pathLst>
                <a:path extrusionOk="0" h="73145" w="73158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EA5B25"/>
            </a:solidFill>
            <a:ln>
              <a:noFill/>
            </a:ln>
          </p:spPr>
        </p:sp>
        <p:sp>
          <p:nvSpPr>
            <p:cNvPr id="335" name="Google Shape;335;p58"/>
            <p:cNvSpPr/>
            <p:nvPr/>
          </p:nvSpPr>
          <p:spPr>
            <a:xfrm>
              <a:off x="893140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6" name="Google Shape;336;p58"/>
          <p:cNvPicPr preferRelativeResize="0"/>
          <p:nvPr/>
        </p:nvPicPr>
        <p:blipFill rotWithShape="1">
          <a:blip r:embed="rId3">
            <a:alphaModFix/>
          </a:blip>
          <a:srcRect b="0" l="10818" r="27003" t="0"/>
          <a:stretch/>
        </p:blipFill>
        <p:spPr>
          <a:xfrm>
            <a:off x="3705925" y="0"/>
            <a:ext cx="5369999" cy="48624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8"/>
          <p:cNvSpPr/>
          <p:nvPr/>
        </p:nvSpPr>
        <p:spPr>
          <a:xfrm rot="-8099602">
            <a:off x="1548917" y="653115"/>
            <a:ext cx="3661399" cy="3715068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8" name="Google Shape;338;p58"/>
          <p:cNvGrpSpPr/>
          <p:nvPr/>
        </p:nvGrpSpPr>
        <p:grpSpPr>
          <a:xfrm>
            <a:off x="0" y="-7000"/>
            <a:ext cx="9197375" cy="5161900"/>
            <a:chOff x="0" y="-7000"/>
            <a:chExt cx="9197375" cy="5161900"/>
          </a:xfrm>
        </p:grpSpPr>
        <p:sp>
          <p:nvSpPr>
            <p:cNvPr id="339" name="Google Shape;339;p58"/>
            <p:cNvSpPr/>
            <p:nvPr/>
          </p:nvSpPr>
          <p:spPr>
            <a:xfrm>
              <a:off x="7000" y="-7000"/>
              <a:ext cx="9144000" cy="255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8"/>
            <p:cNvSpPr/>
            <p:nvPr/>
          </p:nvSpPr>
          <p:spPr>
            <a:xfrm>
              <a:off x="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8"/>
            <p:cNvSpPr/>
            <p:nvPr/>
          </p:nvSpPr>
          <p:spPr>
            <a:xfrm>
              <a:off x="7000" y="4798125"/>
              <a:ext cx="9144000" cy="3567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8"/>
            <p:cNvSpPr/>
            <p:nvPr/>
          </p:nvSpPr>
          <p:spPr>
            <a:xfrm>
              <a:off x="6400750" y="2400375"/>
              <a:ext cx="2743242" cy="2743120"/>
            </a:xfrm>
            <a:custGeom>
              <a:rect b="b" l="l" r="r" t="t"/>
              <a:pathLst>
                <a:path extrusionOk="0" h="73145" w="73158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58ADC5"/>
            </a:solidFill>
            <a:ln>
              <a:noFill/>
            </a:ln>
          </p:spPr>
        </p:sp>
        <p:sp>
          <p:nvSpPr>
            <p:cNvPr id="343" name="Google Shape;343;p58"/>
            <p:cNvSpPr txBox="1"/>
            <p:nvPr/>
          </p:nvSpPr>
          <p:spPr>
            <a:xfrm rot="-2700000">
              <a:off x="6647467" y="3651017"/>
              <a:ext cx="2757716" cy="5545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865"/>
                <a:buNone/>
              </a:pPr>
              <a:r>
                <a:rPr b="1" lang="en" sz="100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We use tech to connect human potential and opportunity with dignity &amp; humility   </a:t>
              </a:r>
              <a:endParaRPr b="1" sz="10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44" name="Google Shape;344;p58"/>
            <p:cNvSpPr/>
            <p:nvPr/>
          </p:nvSpPr>
          <p:spPr>
            <a:xfrm>
              <a:off x="8414775" y="4244650"/>
              <a:ext cx="418647" cy="418572"/>
            </a:xfrm>
            <a:custGeom>
              <a:rect b="b" l="l" r="r" t="t"/>
              <a:pathLst>
                <a:path extrusionOk="0" h="73145" w="73158">
                  <a:moveTo>
                    <a:pt x="73158" y="73107"/>
                  </a:moveTo>
                  <a:lnTo>
                    <a:pt x="73158" y="0"/>
                  </a:lnTo>
                  <a:lnTo>
                    <a:pt x="0" y="73145"/>
                  </a:lnTo>
                  <a:close/>
                </a:path>
              </a:pathLst>
            </a:custGeom>
            <a:solidFill>
              <a:srgbClr val="EA5B25"/>
            </a:solidFill>
            <a:ln>
              <a:noFill/>
            </a:ln>
          </p:spPr>
        </p:sp>
        <p:sp>
          <p:nvSpPr>
            <p:cNvPr id="345" name="Google Shape;345;p58"/>
            <p:cNvSpPr/>
            <p:nvPr/>
          </p:nvSpPr>
          <p:spPr>
            <a:xfrm>
              <a:off x="8931400" y="0"/>
              <a:ext cx="219600" cy="5154900"/>
            </a:xfrm>
            <a:prstGeom prst="rect">
              <a:avLst/>
            </a:prstGeom>
            <a:solidFill>
              <a:srgbClr val="58AD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6" name="Google Shape;34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695" y="312045"/>
            <a:ext cx="3080149" cy="5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8"/>
          <p:cNvSpPr txBox="1"/>
          <p:nvPr/>
        </p:nvSpPr>
        <p:spPr>
          <a:xfrm>
            <a:off x="410475" y="2571750"/>
            <a:ext cx="34773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200">
                <a:solidFill>
                  <a:srgbClr val="EA5B25"/>
                </a:solidFill>
                <a:latin typeface="Assistant"/>
                <a:ea typeface="Assistant"/>
                <a:cs typeface="Assistant"/>
                <a:sym typeface="Assistant"/>
              </a:rPr>
              <a:t>Project A: </a:t>
            </a:r>
            <a:endParaRPr b="1" sz="4200">
              <a:solidFill>
                <a:srgbClr val="EA5B25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200">
                <a:solidFill>
                  <a:srgbClr val="EA5B25"/>
                </a:solidFill>
                <a:latin typeface="Assistant"/>
                <a:ea typeface="Assistant"/>
                <a:cs typeface="Assistant"/>
                <a:sym typeface="Assistant"/>
              </a:rPr>
              <a:t>Flu Shots</a:t>
            </a:r>
            <a:endParaRPr b="1" sz="4200">
              <a:solidFill>
                <a:srgbClr val="EA5B25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48" name="Google Shape;348;p58"/>
          <p:cNvSpPr txBox="1"/>
          <p:nvPr/>
        </p:nvSpPr>
        <p:spPr>
          <a:xfrm>
            <a:off x="325550" y="885500"/>
            <a:ext cx="49662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20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Data Circle 2025</a:t>
            </a:r>
            <a:endParaRPr b="1" sz="4200">
              <a:solidFill>
                <a:srgbClr val="58ADC5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200">
                <a:solidFill>
                  <a:srgbClr val="58ADC5"/>
                </a:solidFill>
                <a:latin typeface="Assistant"/>
                <a:ea typeface="Assistant"/>
                <a:cs typeface="Assistant"/>
                <a:sym typeface="Assistant"/>
              </a:rPr>
              <a:t>Sprint 1</a:t>
            </a:r>
            <a:endParaRPr b="1" sz="4200">
              <a:solidFill>
                <a:srgbClr val="58ADC5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"Halva" - Project  A-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Flu Shot Learning: Predict H1N1 and Seasonal Flu Vaccines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0"/>
          <p:cNvSpPr txBox="1"/>
          <p:nvPr>
            <p:ph type="title"/>
          </p:nvPr>
        </p:nvSpPr>
        <p:spPr>
          <a:xfrm>
            <a:off x="192100" y="2220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</a:t>
            </a:r>
            <a:endParaRPr/>
          </a:p>
        </p:txBody>
      </p:sp>
      <p:sp>
        <p:nvSpPr>
          <p:cNvPr id="359" name="Google Shape;359;p60"/>
          <p:cNvSpPr txBox="1"/>
          <p:nvPr/>
        </p:nvSpPr>
        <p:spPr>
          <a:xfrm>
            <a:off x="1379700" y="1652200"/>
            <a:ext cx="6384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P</a:t>
            </a:r>
            <a:r>
              <a:rPr lang="en" sz="1500">
                <a:solidFill>
                  <a:schemeClr val="lt1"/>
                </a:solidFill>
              </a:rPr>
              <a:t>redict how likely individuals are to receive their H1N1 and seasonal flu vaccines.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Specifically, predicting two probabilities: one for </a:t>
            </a:r>
            <a:r>
              <a:rPr b="1" lang="en" sz="1500">
                <a:solidFill>
                  <a:srgbClr val="050505"/>
                </a:solidFill>
              </a:rPr>
              <a:t>h1n1_vaccine</a:t>
            </a:r>
            <a:r>
              <a:rPr lang="en" sz="1500">
                <a:solidFill>
                  <a:schemeClr val="lt1"/>
                </a:solidFill>
              </a:rPr>
              <a:t> and one for </a:t>
            </a:r>
            <a:r>
              <a:rPr b="1" lang="en" sz="1500">
                <a:solidFill>
                  <a:schemeClr val="dk1"/>
                </a:solidFill>
              </a:rPr>
              <a:t>seasonal_vaccine</a:t>
            </a:r>
            <a:r>
              <a:rPr lang="en" sz="1500">
                <a:solidFill>
                  <a:schemeClr val="lt1"/>
                </a:solidFill>
              </a:rPr>
              <a:t>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Each row in the dataset represents one person from USA who responded to the National 2009 H1N1 Flu Survey.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1"/>
          <p:cNvSpPr txBox="1"/>
          <p:nvPr/>
        </p:nvSpPr>
        <p:spPr>
          <a:xfrm>
            <a:off x="406475" y="1256325"/>
            <a:ext cx="3916800" cy="1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b="0" i="0" lang="en" sz="15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Exploratory analysis of </a:t>
            </a: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data</a:t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Cleaning and preparing the data for training</a:t>
            </a:r>
            <a:endParaRPr b="0" i="0" sz="15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65" name="Google Shape;365;p6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61"/>
          <p:cNvSpPr txBox="1"/>
          <p:nvPr/>
        </p:nvSpPr>
        <p:spPr>
          <a:xfrm>
            <a:off x="386075" y="2763200"/>
            <a:ext cx="3500400" cy="1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b="0" i="0" lang="en" sz="15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Data cleaning</a:t>
            </a:r>
            <a:endParaRPr b="0" i="0" sz="15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b="0" i="0" lang="en" sz="15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Data transformation</a:t>
            </a:r>
            <a:endParaRPr b="0" i="0" sz="15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b="0" i="0" lang="en" sz="15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Exploratory data analysis</a:t>
            </a:r>
            <a:endParaRPr b="0" i="0" sz="15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67" name="Google Shape;367;p61"/>
          <p:cNvSpPr txBox="1"/>
          <p:nvPr/>
        </p:nvSpPr>
        <p:spPr>
          <a:xfrm>
            <a:off x="1581475" y="1322825"/>
            <a:ext cx="42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68" name="Google Shape;368;p61"/>
          <p:cNvSpPr txBox="1"/>
          <p:nvPr>
            <p:ph type="ctrTitle"/>
          </p:nvPr>
        </p:nvSpPr>
        <p:spPr>
          <a:xfrm>
            <a:off x="311150" y="955525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Objective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69" name="Google Shape;369;p61"/>
          <p:cNvSpPr txBox="1"/>
          <p:nvPr>
            <p:ph type="ctrTitle"/>
          </p:nvPr>
        </p:nvSpPr>
        <p:spPr>
          <a:xfrm>
            <a:off x="331000" y="2293500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Methods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2"/>
          <p:cNvSpPr txBox="1"/>
          <p:nvPr/>
        </p:nvSpPr>
        <p:spPr>
          <a:xfrm>
            <a:off x="406475" y="1256325"/>
            <a:ext cx="5561400" cy="17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26707 rows - 38 Feature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❏"/>
            </a:pPr>
            <a:r>
              <a:rPr lang="en" sz="1300">
                <a:solidFill>
                  <a:schemeClr val="dk1"/>
                </a:solidFill>
              </a:rPr>
              <a:t>Target variables:</a:t>
            </a:r>
            <a:r>
              <a:rPr lang="en" sz="13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" sz="1300">
                <a:solidFill>
                  <a:srgbClr val="050505"/>
                </a:solidFill>
              </a:rPr>
              <a:t>h1n1_vaccine, </a:t>
            </a:r>
            <a:r>
              <a:rPr lang="en" sz="1300">
                <a:solidFill>
                  <a:schemeClr val="dk1"/>
                </a:solidFill>
              </a:rPr>
              <a:t>seasonal_vaccine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Behavioral features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Opinion features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Demographic features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5" name="Google Shape;375;p6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62"/>
          <p:cNvSpPr txBox="1"/>
          <p:nvPr>
            <p:ph type="ctrTitle"/>
          </p:nvPr>
        </p:nvSpPr>
        <p:spPr>
          <a:xfrm>
            <a:off x="311150" y="955525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7" name="Google Shape;377;p62"/>
          <p:cNvSpPr txBox="1"/>
          <p:nvPr>
            <p:ph type="ctrTitle"/>
          </p:nvPr>
        </p:nvSpPr>
        <p:spPr>
          <a:xfrm>
            <a:off x="406475" y="2862750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Data Cleaning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78" name="Google Shape;378;p62"/>
          <p:cNvSpPr txBox="1"/>
          <p:nvPr/>
        </p:nvSpPr>
        <p:spPr>
          <a:xfrm>
            <a:off x="406475" y="3208700"/>
            <a:ext cx="55614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Filling missing Data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ssistant"/>
              <a:buChar char="❏"/>
            </a:pPr>
            <a:r>
              <a:rPr lang="en" sz="1300">
                <a:solidFill>
                  <a:schemeClr val="dk1"/>
                </a:solidFill>
              </a:rPr>
              <a:t>Deciding whether to drop seemingly </a:t>
            </a:r>
            <a:r>
              <a:rPr lang="en" sz="1300">
                <a:solidFill>
                  <a:schemeClr val="dk1"/>
                </a:solidFill>
              </a:rPr>
              <a:t>unnecessary</a:t>
            </a:r>
            <a:r>
              <a:rPr lang="en" sz="1300">
                <a:solidFill>
                  <a:schemeClr val="dk1"/>
                </a:solidFill>
              </a:rPr>
              <a:t> columns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❏"/>
            </a:pPr>
            <a:r>
              <a:rPr lang="en" sz="1300">
                <a:solidFill>
                  <a:schemeClr val="dk1"/>
                </a:solidFill>
              </a:rPr>
              <a:t>Feature encoding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63"/>
          <p:cNvSpPr txBox="1"/>
          <p:nvPr>
            <p:ph type="ctrTitle"/>
          </p:nvPr>
        </p:nvSpPr>
        <p:spPr>
          <a:xfrm>
            <a:off x="3196875" y="484550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2020">
                <a:solidFill>
                  <a:schemeClr val="dk1"/>
                </a:solidFill>
              </a:rPr>
              <a:t>Main Findings</a:t>
            </a:r>
            <a:endParaRPr sz="2020">
              <a:solidFill>
                <a:schemeClr val="dk1"/>
              </a:solidFill>
            </a:endParaRPr>
          </a:p>
        </p:txBody>
      </p:sp>
      <p:sp>
        <p:nvSpPr>
          <p:cNvPr id="385" name="Google Shape;385;p63"/>
          <p:cNvSpPr txBox="1"/>
          <p:nvPr>
            <p:ph type="ctrTitle"/>
          </p:nvPr>
        </p:nvSpPr>
        <p:spPr>
          <a:xfrm>
            <a:off x="500925" y="1107925"/>
            <a:ext cx="2773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1620">
                <a:solidFill>
                  <a:schemeClr val="dk1"/>
                </a:solidFill>
              </a:rPr>
              <a:t>Target variable Distribution</a:t>
            </a:r>
            <a:endParaRPr sz="1620">
              <a:solidFill>
                <a:schemeClr val="dk1"/>
              </a:solidFill>
            </a:endParaRPr>
          </a:p>
        </p:txBody>
      </p:sp>
      <p:pic>
        <p:nvPicPr>
          <p:cNvPr id="386" name="Google Shape;38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50" y="2078325"/>
            <a:ext cx="2962050" cy="22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8950" y="2130662"/>
            <a:ext cx="2825025" cy="215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4525" y="290525"/>
            <a:ext cx="2485800" cy="238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64"/>
          <p:cNvSpPr txBox="1"/>
          <p:nvPr>
            <p:ph type="ctrTitle"/>
          </p:nvPr>
        </p:nvSpPr>
        <p:spPr>
          <a:xfrm>
            <a:off x="3196875" y="484550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2020">
                <a:solidFill>
                  <a:schemeClr val="dk1"/>
                </a:solidFill>
              </a:rPr>
              <a:t>Main Findings</a:t>
            </a:r>
            <a:endParaRPr sz="2020">
              <a:solidFill>
                <a:schemeClr val="dk1"/>
              </a:solidFill>
            </a:endParaRPr>
          </a:p>
        </p:txBody>
      </p:sp>
      <p:sp>
        <p:nvSpPr>
          <p:cNvPr id="395" name="Google Shape;395;p64"/>
          <p:cNvSpPr txBox="1"/>
          <p:nvPr>
            <p:ph type="ctrTitle"/>
          </p:nvPr>
        </p:nvSpPr>
        <p:spPr>
          <a:xfrm>
            <a:off x="500925" y="1107925"/>
            <a:ext cx="2773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1620">
                <a:solidFill>
                  <a:schemeClr val="dk1"/>
                </a:solidFill>
              </a:rPr>
              <a:t>Demographic Influence </a:t>
            </a:r>
            <a:endParaRPr sz="1620">
              <a:solidFill>
                <a:schemeClr val="dk1"/>
              </a:solidFill>
            </a:endParaRPr>
          </a:p>
        </p:txBody>
      </p:sp>
      <p:pic>
        <p:nvPicPr>
          <p:cNvPr id="396" name="Google Shape;39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50" y="1731300"/>
            <a:ext cx="3788376" cy="23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4225" y="1069075"/>
            <a:ext cx="3826899" cy="24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65"/>
          <p:cNvSpPr txBox="1"/>
          <p:nvPr>
            <p:ph type="ctrTitle"/>
          </p:nvPr>
        </p:nvSpPr>
        <p:spPr>
          <a:xfrm>
            <a:off x="3196875" y="484550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2020">
                <a:solidFill>
                  <a:schemeClr val="dk1"/>
                </a:solidFill>
              </a:rPr>
              <a:t>Main Findings</a:t>
            </a:r>
            <a:endParaRPr sz="2020">
              <a:solidFill>
                <a:schemeClr val="dk1"/>
              </a:solidFill>
            </a:endParaRPr>
          </a:p>
        </p:txBody>
      </p:sp>
      <p:sp>
        <p:nvSpPr>
          <p:cNvPr id="404" name="Google Shape;404;p65"/>
          <p:cNvSpPr txBox="1"/>
          <p:nvPr>
            <p:ph type="ctrTitle"/>
          </p:nvPr>
        </p:nvSpPr>
        <p:spPr>
          <a:xfrm>
            <a:off x="500925" y="1107925"/>
            <a:ext cx="2773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1620">
                <a:solidFill>
                  <a:schemeClr val="dk1"/>
                </a:solidFill>
              </a:rPr>
              <a:t>Feature Correlation</a:t>
            </a:r>
            <a:endParaRPr sz="1620">
              <a:solidFill>
                <a:schemeClr val="dk1"/>
              </a:solidFill>
            </a:endParaRPr>
          </a:p>
        </p:txBody>
      </p:sp>
      <p:pic>
        <p:nvPicPr>
          <p:cNvPr id="405" name="Google Shape;40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8275" y="1435750"/>
            <a:ext cx="4639149" cy="332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66"/>
          <p:cNvSpPr txBox="1"/>
          <p:nvPr>
            <p:ph type="ctrTitle"/>
          </p:nvPr>
        </p:nvSpPr>
        <p:spPr>
          <a:xfrm>
            <a:off x="415825" y="1151650"/>
            <a:ext cx="25857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1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Challenges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412" name="Google Shape;412;p66"/>
          <p:cNvSpPr txBox="1"/>
          <p:nvPr>
            <p:ph type="ctrTitle"/>
          </p:nvPr>
        </p:nvSpPr>
        <p:spPr>
          <a:xfrm>
            <a:off x="661100" y="2201125"/>
            <a:ext cx="6362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" sz="1400">
                <a:solidFill>
                  <a:schemeClr val="dk1"/>
                </a:solidFill>
              </a:rPr>
              <a:t>Difficulties setting up and syncing GitHub</a:t>
            </a:r>
            <a:endParaRPr b="0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" sz="1400">
                <a:solidFill>
                  <a:schemeClr val="dk1"/>
                </a:solidFill>
              </a:rPr>
              <a:t>Choosing the correct encoding strategies (label encoder, </a:t>
            </a:r>
            <a:r>
              <a:rPr b="0" lang="en" sz="1400">
                <a:solidFill>
                  <a:schemeClr val="dk1"/>
                </a:solidFill>
              </a:rPr>
              <a:t>ordinal encoder</a:t>
            </a:r>
            <a:r>
              <a:rPr b="0" lang="en" sz="1400">
                <a:solidFill>
                  <a:schemeClr val="dk1"/>
                </a:solidFill>
              </a:rPr>
              <a:t> )</a:t>
            </a:r>
            <a:endParaRPr b="0"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" sz="1400">
                <a:solidFill>
                  <a:schemeClr val="dk1"/>
                </a:solidFill>
              </a:rPr>
              <a:t>Plotting encoded features </a:t>
            </a:r>
            <a:endParaRPr b="0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/>
        </p:nvSpPr>
        <p:spPr>
          <a:xfrm>
            <a:off x="436025" y="1455850"/>
            <a:ext cx="4108800" cy="2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We have a good </a:t>
            </a: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understanding</a:t>
            </a: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of the data and the correlation of the features.</a:t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Data is now clean with no missing values.</a:t>
            </a:r>
            <a:endParaRPr b="0" i="0" sz="15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ssistant"/>
              <a:buChar char="❏"/>
            </a:pPr>
            <a:r>
              <a:rPr lang="en" sz="15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The Data is now encoded and ready for training.</a:t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18" name="Google Shape;418;p6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67"/>
          <p:cNvSpPr txBox="1"/>
          <p:nvPr>
            <p:ph type="ctrTitle"/>
          </p:nvPr>
        </p:nvSpPr>
        <p:spPr>
          <a:xfrm>
            <a:off x="311150" y="1071975"/>
            <a:ext cx="19134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1111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Conclusion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20" name="Google Shape;420;p67"/>
          <p:cNvSpPr txBox="1"/>
          <p:nvPr/>
        </p:nvSpPr>
        <p:spPr>
          <a:xfrm>
            <a:off x="2793475" y="3736075"/>
            <a:ext cx="3089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38761D"/>
                </a:solidFill>
                <a:latin typeface="Assistant"/>
                <a:ea typeface="Assistant"/>
                <a:cs typeface="Assistant"/>
                <a:sym typeface="Assistant"/>
              </a:rPr>
              <a:t>Thank you</a:t>
            </a:r>
            <a:endParaRPr b="1" i="0" sz="4800" u="none" cap="none" strike="noStrike">
              <a:solidFill>
                <a:srgbClr val="38761D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